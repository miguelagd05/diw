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56" r:id="rId3"/>
    <p:sldId id="258" r:id="rId4"/>
    <p:sldId id="270" r:id="rId5"/>
    <p:sldId id="261" r:id="rId6"/>
    <p:sldId id="273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5E9D0-DF11-413C-B139-F4AB1F238F1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28836-C538-438A-AE65-41D9E5A787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9689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71BCD-FE98-8ED6-4075-58350DB19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A3B32F-EEF0-4B45-309F-2B945A84B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19B811-08F5-C408-9A8E-73FC619F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D6E8F-3EF2-B92D-5D02-624DDFF2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7C8B71-D9AC-0479-391A-5C57A3A5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899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DF200-0EA3-D5A0-7D20-563E74F3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30E842-A8FA-7C19-A7A6-E2473AC4C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4E730A-3B58-B75A-A51C-D4053A50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7773E9-4A22-C9A5-F681-7D2658A4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A51A29-29D3-A395-224B-E59D0CC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67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29556-F278-FF15-7AEE-6D9351DB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57F8A3-CA7C-DF91-EEB5-897C4EB76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9ECD4A-2ACA-D888-4DC8-D7F1A356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37E76-8CAD-5160-2D02-FFC14295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A6961F-36A5-4554-545A-27A63FEE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588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F3CE9-F48D-9FDC-1238-0718AE80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BE7ABA-F18D-80E0-9874-AFBD856A7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ED15C1-18B6-8151-EEC1-4634D206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E0AF4F-1DA1-E18E-FED8-99A12BDC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0C617-3E35-8CFD-48C1-39300406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EDE427-F6AB-2262-EE0A-3718F023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40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39119-CECB-B3AB-3A62-41D593B9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848F41-4875-7F64-CD99-C1AE0FAE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489BCD-2CF0-6A8F-FC3D-C7DB48255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931607-F7DA-C422-DABF-DD9F869FE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704705-2C0A-4BF4-1604-D755C65A7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C86824-9CEF-5913-34FC-6EAFF1D5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33055C-A5A4-9539-E118-229BF1F5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B24676-E1E2-1374-B4DE-B505FB57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885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60660-BE0D-CED3-930F-DA9838A9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59D644-F524-1F13-BA00-E6E994B9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D5F42D-2E09-62DD-2EB0-31F363A66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F22368-15D3-13A5-EF40-2A4A9A2E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2437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21DAEC-7535-0CD4-2D34-5BAC8B82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B6D7C3-196F-D902-F187-BBAB68DA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FCF912-2E12-0F41-1A3D-0AAB9EF4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115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CDC92-0587-2A59-A1CD-41159E15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AC4E0A-F6DD-78E6-340F-F107D2A3E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626769-7218-731E-5A28-D1487BBE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1CE9CE-4D48-153A-B595-1DA3F9B5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019932-165B-4342-B424-EDBC188D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D26CA7-A7CD-5159-92C1-11D8F2B48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293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E692E-C07C-5933-B425-88759C84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041027-8D04-A37A-877E-A367B59E00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6CE895-5011-4110-D7C4-23430B63A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3B0A1B-7378-81AB-AF99-B44A7F37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8321E5-C6E8-B821-12A0-00CC2BD4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D26696-D572-72FF-8597-89623A81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23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FBEB2-7FB9-3CDB-8DB1-8ACAB03F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2DD301-820A-5C59-B68E-0596C7278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EE7474-A927-B779-C029-DC753CAB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D75CB3-9682-F378-EBED-045452DD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B2DE89-ED39-5DD7-24A3-181C618E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010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78D964-9B6A-3E24-D142-1F8965C76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859AD1-F5B2-901C-564F-7CFC40761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FA5012-F657-2FC3-6320-EB82F004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977B18-0C32-48C4-329C-BFAA9DDF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3CB654-6ACD-10B5-D1BE-12130748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9896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EAE276-954B-0F5C-3238-0F9F562D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30EF64-D507-7585-3507-D86121EE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719BF8-7E7A-CAB7-F6E6-5A2821B64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AAC33-24F8-4A0C-9942-38D4FD6B306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0D43B5-2CC4-8874-BA16-66FCDC905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648B1E-4C7B-189D-9B4A-B036CC1CC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D040B-0023-4519-BC1D-FA7068F46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512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5139" y="24756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DIW U1T3: </a:t>
            </a:r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b="1" dirty="0" smtClean="0"/>
              <a:t>Analizar </a:t>
            </a:r>
            <a:r>
              <a:rPr lang="es-ES" b="1" dirty="0"/>
              <a:t>componentes de un sitio web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6315075"/>
            <a:ext cx="10515600" cy="542925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Miguel Ángel García Díaz 2ºDAW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193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ayStation 5 - especificaciones, detalles confirmados, posibles juegos de  PS5 y todo lo que sabemos de la nueva PlayStation | Eurogamer.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300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F307AB1-7CB0-246F-DFC4-82BE3F632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02" y="-323850"/>
            <a:ext cx="9144000" cy="2387600"/>
          </a:xfrm>
        </p:spPr>
        <p:txBody>
          <a:bodyPr/>
          <a:lstStyle/>
          <a:p>
            <a:r>
              <a:rPr lang="es-ES" b="1" dirty="0" smtClean="0"/>
              <a:t>SITIO WEB </a:t>
            </a:r>
            <a:r>
              <a:rPr lang="es-ES" b="1" dirty="0"/>
              <a:t>1</a:t>
            </a:r>
            <a:r>
              <a:rPr lang="es-ES" b="1" dirty="0" smtClean="0"/>
              <a:t>:</a:t>
            </a:r>
            <a:endParaRPr lang="es-ES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524250" y="5486400"/>
            <a:ext cx="6391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 smtClean="0">
                <a:latin typeface="+mj-lt"/>
              </a:rPr>
              <a:t>PLAYSTATION</a:t>
            </a:r>
            <a:endParaRPr lang="es-ES" sz="6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147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2B91B7B-4003-5FF2-174C-4A725342E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5" y="643468"/>
            <a:ext cx="10905067" cy="558135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0A1A7A3-496D-04CE-26A3-F415C68B2D85}"/>
              </a:ext>
            </a:extLst>
          </p:cNvPr>
          <p:cNvSpPr txBox="1"/>
          <p:nvPr/>
        </p:nvSpPr>
        <p:spPr>
          <a:xfrm>
            <a:off x="3784884" y="50769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ELEMENTOS DE IDENTIFICACIÓN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68DE1F1-E335-AED1-59B9-A620E4A72A15}"/>
              </a:ext>
            </a:extLst>
          </p:cNvPr>
          <p:cNvCxnSpPr/>
          <p:nvPr/>
        </p:nvCxnSpPr>
        <p:spPr>
          <a:xfrm flipH="1" flipV="1">
            <a:off x="926592" y="1146048"/>
            <a:ext cx="178308" cy="739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1120552" y="1886568"/>
            <a:ext cx="32836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El Logotipo permite identificar rápidamente la empresa en </a:t>
            </a:r>
            <a:r>
              <a:rPr lang="es-ES" sz="1200" dirty="0" smtClean="0"/>
              <a:t>cuestión, en este caso </a:t>
            </a:r>
            <a:r>
              <a:rPr lang="es-ES" sz="1200" dirty="0" err="1" smtClean="0"/>
              <a:t>Playstation</a:t>
            </a:r>
            <a:endParaRPr lang="es-ES" sz="120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4C9CAC49-ABEB-7C65-AE79-7F9085023CB4}"/>
              </a:ext>
            </a:extLst>
          </p:cNvPr>
          <p:cNvCxnSpPr/>
          <p:nvPr/>
        </p:nvCxnSpPr>
        <p:spPr>
          <a:xfrm>
            <a:off x="623371" y="1146048"/>
            <a:ext cx="109251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6277ECC3-BABC-F3D5-50FA-6185DCEE6413}"/>
              </a:ext>
            </a:extLst>
          </p:cNvPr>
          <p:cNvCxnSpPr>
            <a:cxnSpLocks/>
          </p:cNvCxnSpPr>
          <p:nvPr/>
        </p:nvCxnSpPr>
        <p:spPr>
          <a:xfrm flipV="1">
            <a:off x="6965032" y="1135765"/>
            <a:ext cx="667739" cy="750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52A918E-BBEA-C6C6-6616-C34F442163BF}"/>
              </a:ext>
            </a:extLst>
          </p:cNvPr>
          <p:cNvSpPr txBox="1"/>
          <p:nvPr/>
        </p:nvSpPr>
        <p:spPr>
          <a:xfrm>
            <a:off x="4707607" y="1888099"/>
            <a:ext cx="225742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Los colores </a:t>
            </a:r>
            <a:r>
              <a:rPr lang="es-ES" sz="1200" dirty="0"/>
              <a:t>blancos y </a:t>
            </a:r>
            <a:r>
              <a:rPr lang="es-ES" sz="1200" dirty="0" smtClean="0"/>
              <a:t>negros son  característicos</a:t>
            </a:r>
          </a:p>
          <a:p>
            <a:r>
              <a:rPr lang="es-ES" sz="1200" dirty="0"/>
              <a:t>d</a:t>
            </a:r>
            <a:r>
              <a:rPr lang="es-ES" sz="1200" dirty="0" smtClean="0"/>
              <a:t>e la marca y ayudan a reconocerla fácilmente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18672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0A1A7A3-496D-04CE-26A3-F415C68B2D85}"/>
              </a:ext>
            </a:extLst>
          </p:cNvPr>
          <p:cNvSpPr txBox="1"/>
          <p:nvPr/>
        </p:nvSpPr>
        <p:spPr>
          <a:xfrm>
            <a:off x="4258202" y="52917"/>
            <a:ext cx="4424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ELEMENTOS DE </a:t>
            </a:r>
            <a:r>
              <a:rPr lang="es-ES" sz="2400" dirty="0" smtClean="0"/>
              <a:t>NAVEGACIÓN</a:t>
            </a:r>
            <a:endParaRPr lang="es-ES" sz="2400" dirty="0"/>
          </a:p>
        </p:txBody>
      </p:sp>
      <p:pic>
        <p:nvPicPr>
          <p:cNvPr id="12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196" y="643467"/>
            <a:ext cx="7315200" cy="4344127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2919369" y="643468"/>
            <a:ext cx="3087148" cy="3883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" name="Conector recto de flecha 3"/>
          <p:cNvCxnSpPr/>
          <p:nvPr/>
        </p:nvCxnSpPr>
        <p:spPr>
          <a:xfrm flipV="1">
            <a:off x="1964184" y="1031846"/>
            <a:ext cx="1626304" cy="3940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973122" y="4987594"/>
            <a:ext cx="3212983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Cada uno de estos apartados tiene sus propios enlaces para acceder a otras páginas, por ejemplo a los distintos juegos, a los accesorios de Play</a:t>
            </a:r>
            <a:endParaRPr lang="es-ES" sz="1200" dirty="0"/>
          </a:p>
        </p:txBody>
      </p:sp>
      <p:sp>
        <p:nvSpPr>
          <p:cNvPr id="9" name="CuadroTexto 8"/>
          <p:cNvSpPr txBox="1"/>
          <p:nvPr/>
        </p:nvSpPr>
        <p:spPr>
          <a:xfrm>
            <a:off x="8001000" y="5314950"/>
            <a:ext cx="316230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Este botón nos lleva al apartado de inicio de sesión</a:t>
            </a:r>
            <a:endParaRPr lang="es-ES" sz="1200" dirty="0"/>
          </a:p>
        </p:txBody>
      </p:sp>
      <p:cxnSp>
        <p:nvCxnSpPr>
          <p:cNvPr id="11" name="Conector recto de flecha 10"/>
          <p:cNvCxnSpPr/>
          <p:nvPr/>
        </p:nvCxnSpPr>
        <p:spPr>
          <a:xfrm flipH="1" flipV="1">
            <a:off x="9153525" y="923925"/>
            <a:ext cx="76200" cy="4391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5257800" y="5114925"/>
            <a:ext cx="2425415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Nos lleva a la página principal del juego con su información, precio, valoración</a:t>
            </a:r>
            <a:endParaRPr lang="es-ES" sz="1200" dirty="0"/>
          </a:p>
        </p:txBody>
      </p:sp>
      <p:cxnSp>
        <p:nvCxnSpPr>
          <p:cNvPr id="21" name="Conector recto de flecha 20"/>
          <p:cNvCxnSpPr/>
          <p:nvPr/>
        </p:nvCxnSpPr>
        <p:spPr>
          <a:xfrm flipH="1" flipV="1">
            <a:off x="4352559" y="3781425"/>
            <a:ext cx="1829166" cy="1323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33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60B7D-FA92-32D8-9549-B8634BB1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9AA99F-7C63-7BA9-B371-4B7C9736EB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6" r="23226" b="-1"/>
          <a:stretch>
            <a:fillRect/>
          </a:stretch>
        </p:blipFill>
        <p:spPr>
          <a:xfrm>
            <a:off x="7829550" y="3532497"/>
            <a:ext cx="4105275" cy="3231405"/>
          </a:xfrm>
          <a:prstGeom prst="rect">
            <a:avLst/>
          </a:prstGeom>
        </p:spPr>
      </p:pic>
      <p:grpSp>
        <p:nvGrpSpPr>
          <p:cNvPr id="26" name="Group 28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Marcador de contenido 4">
            <a:extLst>
              <a:ext uri="{FF2B5EF4-FFF2-40B4-BE49-F238E27FC236}">
                <a16:creationId xmlns:a16="http://schemas.microsoft.com/office/drawing/2014/main" id="{86F661A9-7248-C4E1-54B9-17C70AA4B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867151"/>
            <a:ext cx="7776518" cy="2896752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3536255" y="1180923"/>
            <a:ext cx="42402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/>
              <a:t>ELEMENTOS DE </a:t>
            </a:r>
            <a:r>
              <a:rPr lang="es-ES" sz="2400" dirty="0" smtClean="0"/>
              <a:t>CONTENIDO</a:t>
            </a:r>
            <a:endParaRPr lang="es-ES" sz="24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22419" y="2208506"/>
            <a:ext cx="2965391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Por un lado se muestran las consolas de la marca, así como sus accesorios, de estos podemos ver el precio, stock…</a:t>
            </a:r>
            <a:endParaRPr lang="es-ES" sz="1200" dirty="0"/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2085174" y="3042303"/>
            <a:ext cx="410198" cy="2816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/>
          <p:cNvSpPr/>
          <p:nvPr/>
        </p:nvSpPr>
        <p:spPr>
          <a:xfrm>
            <a:off x="752030" y="5858828"/>
            <a:ext cx="6922209" cy="789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/>
          <p:cNvSpPr txBox="1"/>
          <p:nvPr/>
        </p:nvSpPr>
        <p:spPr>
          <a:xfrm>
            <a:off x="8328054" y="1600786"/>
            <a:ext cx="296539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500" dirty="0" smtClean="0"/>
              <a:t>También encontramos información sobre próximos lanzamientos, juegos en oferta</a:t>
            </a:r>
            <a:endParaRPr lang="es-ES" sz="1500" dirty="0"/>
          </a:p>
        </p:txBody>
      </p:sp>
      <p:cxnSp>
        <p:nvCxnSpPr>
          <p:cNvPr id="12" name="Conector recto de flecha 11"/>
          <p:cNvCxnSpPr/>
          <p:nvPr/>
        </p:nvCxnSpPr>
        <p:spPr>
          <a:xfrm flipH="1">
            <a:off x="8877300" y="2624004"/>
            <a:ext cx="247650" cy="1127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58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0A1A7A3-496D-04CE-26A3-F415C68B2D85}"/>
              </a:ext>
            </a:extLst>
          </p:cNvPr>
          <p:cNvSpPr txBox="1"/>
          <p:nvPr/>
        </p:nvSpPr>
        <p:spPr>
          <a:xfrm>
            <a:off x="4258202" y="52917"/>
            <a:ext cx="460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ELEMENTOS DE </a:t>
            </a:r>
            <a:r>
              <a:rPr lang="es-ES" sz="2400" dirty="0" smtClean="0"/>
              <a:t>INTERACCIÓN</a:t>
            </a:r>
            <a:endParaRPr lang="es-ES" sz="2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213" y="690354"/>
            <a:ext cx="8688481" cy="384280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23900" y="5013221"/>
            <a:ext cx="417195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Aquí podemos interactuar con el botón de comprar ahora, que nos lleva al enlace del juego para comprarlo</a:t>
            </a:r>
            <a:endParaRPr lang="es-ES" sz="1200" dirty="0"/>
          </a:p>
        </p:txBody>
      </p:sp>
      <p:cxnSp>
        <p:nvCxnSpPr>
          <p:cNvPr id="10" name="Conector recto de flecha 9"/>
          <p:cNvCxnSpPr/>
          <p:nvPr/>
        </p:nvCxnSpPr>
        <p:spPr>
          <a:xfrm flipV="1">
            <a:off x="2533650" y="3352801"/>
            <a:ext cx="1114425" cy="1678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7842334" y="5013221"/>
            <a:ext cx="370619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Aquí podemos iniciar sesión en nuestra cuenta, para ver los juegos que tenemos descargados, hacer reservas, añadir objetos a la lista de deseados</a:t>
            </a:r>
            <a:endParaRPr lang="es-ES" sz="1200" dirty="0"/>
          </a:p>
        </p:txBody>
      </p:sp>
      <p:cxnSp>
        <p:nvCxnSpPr>
          <p:cNvPr id="18" name="Conector recto de flecha 17"/>
          <p:cNvCxnSpPr/>
          <p:nvPr/>
        </p:nvCxnSpPr>
        <p:spPr>
          <a:xfrm flipH="1" flipV="1">
            <a:off x="9829800" y="971550"/>
            <a:ext cx="123825" cy="4041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5268954" y="4960304"/>
            <a:ext cx="220027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Podemos buscar los distintos juegos o </a:t>
            </a:r>
            <a:r>
              <a:rPr lang="es-ES" sz="1200" dirty="0" err="1" smtClean="0"/>
              <a:t>DLCs</a:t>
            </a:r>
            <a:r>
              <a:rPr lang="es-ES" sz="1200" dirty="0" smtClean="0"/>
              <a:t> en el buscador</a:t>
            </a:r>
            <a:endParaRPr lang="es-ES" sz="1200" dirty="0"/>
          </a:p>
        </p:txBody>
      </p:sp>
      <p:cxnSp>
        <p:nvCxnSpPr>
          <p:cNvPr id="26" name="Conector recto de flecha 25"/>
          <p:cNvCxnSpPr>
            <a:stCxn id="19" idx="0"/>
          </p:cNvCxnSpPr>
          <p:nvPr/>
        </p:nvCxnSpPr>
        <p:spPr>
          <a:xfrm flipV="1">
            <a:off x="6369092" y="971550"/>
            <a:ext cx="3936958" cy="3988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15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636043" y="1556084"/>
            <a:ext cx="4546432" cy="53019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86200" y="369626"/>
            <a:ext cx="10515600" cy="1325563"/>
          </a:xfrm>
        </p:spPr>
        <p:txBody>
          <a:bodyPr>
            <a:normAutofit/>
          </a:bodyPr>
          <a:lstStyle/>
          <a:p>
            <a:r>
              <a:rPr lang="es-ES" sz="3000" dirty="0" smtClean="0"/>
              <a:t>MAPA DE NAVEGACIÓN</a:t>
            </a:r>
            <a:endParaRPr lang="es-ES" sz="30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76" y="2085473"/>
            <a:ext cx="7435774" cy="41375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CuadroTexto 5"/>
          <p:cNvSpPr txBox="1"/>
          <p:nvPr/>
        </p:nvSpPr>
        <p:spPr>
          <a:xfrm>
            <a:off x="7636043" y="1695189"/>
            <a:ext cx="44178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El mapa de navegación de la página oficial de PlayStation presenta una estructura jerárquica dividida por secciones. </a:t>
            </a:r>
          </a:p>
          <a:p>
            <a:r>
              <a:rPr lang="es-ES" dirty="0" smtClean="0"/>
              <a:t>Por ejemplo encontramos diversos contenidos relacionados con la PS5, como sus juegos, accesorios y características, y de PS Plus podemos ver los distintos precios, así como los juegos que incluye cada nivel.</a:t>
            </a:r>
          </a:p>
          <a:p>
            <a:r>
              <a:rPr lang="es-ES" dirty="0" smtClean="0"/>
              <a:t>Esta organización permite que los usuarios accedan a los contenidos desde los apartados más importantes a los más específicos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844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3732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F307AB1-7CB0-246F-DFC4-82BE3F632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2625" y="2118993"/>
            <a:ext cx="9144000" cy="2387600"/>
          </a:xfrm>
        </p:spPr>
        <p:txBody>
          <a:bodyPr/>
          <a:lstStyle/>
          <a:p>
            <a:r>
              <a:rPr lang="es-ES" dirty="0"/>
              <a:t>SITIO WEB </a:t>
            </a:r>
            <a:r>
              <a:rPr lang="es-ES" dirty="0"/>
              <a:t>2</a:t>
            </a:r>
            <a:r>
              <a:rPr lang="es-ES" dirty="0" smtClean="0"/>
              <a:t>: </a:t>
            </a:r>
            <a:br>
              <a:rPr lang="es-ES" dirty="0" smtClean="0"/>
            </a:br>
            <a:r>
              <a:rPr lang="es-ES" dirty="0" smtClean="0"/>
              <a:t>LEGO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609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9DE5DC9-A3F0-E185-A70D-B49BFA014D8A}"/>
              </a:ext>
            </a:extLst>
          </p:cNvPr>
          <p:cNvSpPr txBox="1"/>
          <p:nvPr/>
        </p:nvSpPr>
        <p:spPr>
          <a:xfrm>
            <a:off x="4155800" y="151337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ELEMENTOS DE </a:t>
            </a:r>
            <a:r>
              <a:rPr lang="es-ES" sz="2400" b="1" dirty="0" smtClean="0"/>
              <a:t>IDENTIFICACIÓN</a:t>
            </a:r>
            <a:endParaRPr lang="es-ES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643468"/>
            <a:ext cx="10895030" cy="404809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645964" y="5129884"/>
            <a:ext cx="297603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El </a:t>
            </a:r>
            <a:r>
              <a:rPr lang="es-ES" sz="1200" dirty="0" smtClean="0"/>
              <a:t>Logotipo que nos permite reconocer la empresa al instante, en este caso Lego</a:t>
            </a:r>
            <a:endParaRPr lang="es-ES" sz="12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6803057" y="5019704"/>
            <a:ext cx="418109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El </a:t>
            </a:r>
            <a:r>
              <a:rPr lang="es-ES" sz="1200" dirty="0" smtClean="0"/>
              <a:t>icono que aparece al lado del inicio de sesión es característico de la marca, ya que es una de las figuras fabricadas por la empresa</a:t>
            </a:r>
            <a:endParaRPr lang="es-ES" sz="1200" dirty="0"/>
          </a:p>
        </p:txBody>
      </p:sp>
      <p:sp>
        <p:nvSpPr>
          <p:cNvPr id="17" name="CuadroTexto 16"/>
          <p:cNvSpPr txBox="1"/>
          <p:nvPr/>
        </p:nvSpPr>
        <p:spPr>
          <a:xfrm>
            <a:off x="4154583" y="5122163"/>
            <a:ext cx="2340250" cy="646331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Este tono de amarillo es representativo de sus productos</a:t>
            </a:r>
            <a:endParaRPr lang="es-ES" sz="1200" dirty="0"/>
          </a:p>
        </p:txBody>
      </p:sp>
      <p:cxnSp>
        <p:nvCxnSpPr>
          <p:cNvPr id="28" name="Conector recto de flecha 27"/>
          <p:cNvCxnSpPr/>
          <p:nvPr/>
        </p:nvCxnSpPr>
        <p:spPr>
          <a:xfrm flipV="1">
            <a:off x="1571625" y="1114425"/>
            <a:ext cx="95250" cy="400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/>
          <p:nvPr/>
        </p:nvCxnSpPr>
        <p:spPr>
          <a:xfrm flipV="1">
            <a:off x="4972050" y="1181100"/>
            <a:ext cx="895350" cy="394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 flipV="1">
            <a:off x="8696325" y="876301"/>
            <a:ext cx="137856" cy="4117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15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9DE5DC9-A3F0-E185-A70D-B49BFA014D8A}"/>
              </a:ext>
            </a:extLst>
          </p:cNvPr>
          <p:cNvSpPr txBox="1"/>
          <p:nvPr/>
        </p:nvSpPr>
        <p:spPr>
          <a:xfrm>
            <a:off x="4155800" y="151337"/>
            <a:ext cx="4424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ELEMENTOS DE </a:t>
            </a:r>
            <a:r>
              <a:rPr lang="es-ES" sz="2400" b="1" dirty="0" smtClean="0"/>
              <a:t>NAVEG</a:t>
            </a:r>
            <a:r>
              <a:rPr lang="es-ES" sz="2400" b="1" dirty="0" smtClean="0"/>
              <a:t>ACIÓN</a:t>
            </a:r>
            <a:endParaRPr lang="es-ES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672006"/>
            <a:ext cx="10895030" cy="4048097"/>
          </a:xfrm>
          <a:prstGeom prst="rect">
            <a:avLst/>
          </a:prstGeom>
        </p:spPr>
      </p:pic>
      <p:cxnSp>
        <p:nvCxnSpPr>
          <p:cNvPr id="7" name="Conector recto de flecha 6"/>
          <p:cNvCxnSpPr/>
          <p:nvPr/>
        </p:nvCxnSpPr>
        <p:spPr>
          <a:xfrm flipV="1">
            <a:off x="2157645" y="1228728"/>
            <a:ext cx="814155" cy="386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7391061" y="4950456"/>
            <a:ext cx="41810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La barra de búsqueda nos permite encontrar cualquier producto de la marca</a:t>
            </a:r>
            <a:endParaRPr lang="es-ES" sz="1200" dirty="0"/>
          </a:p>
        </p:txBody>
      </p:sp>
      <p:sp>
        <p:nvSpPr>
          <p:cNvPr id="4" name="Rectángulo 3"/>
          <p:cNvSpPr/>
          <p:nvPr/>
        </p:nvSpPr>
        <p:spPr>
          <a:xfrm>
            <a:off x="2324100" y="933450"/>
            <a:ext cx="3076063" cy="43815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995976" y="5096696"/>
            <a:ext cx="41810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En el encabezado encontramos distintos apartados y cada uno tiene enlaces que nos llevan a otras partes de la página</a:t>
            </a:r>
            <a:endParaRPr lang="es-ES" sz="1200" dirty="0"/>
          </a:p>
        </p:txBody>
      </p:sp>
      <p:cxnSp>
        <p:nvCxnSpPr>
          <p:cNvPr id="23" name="Conector recto de flecha 22"/>
          <p:cNvCxnSpPr/>
          <p:nvPr/>
        </p:nvCxnSpPr>
        <p:spPr>
          <a:xfrm flipH="1" flipV="1">
            <a:off x="8467726" y="1228729"/>
            <a:ext cx="619124" cy="3721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5450247" y="5666045"/>
            <a:ext cx="41810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Estos botones al pulsarlos nos redirigen a otro enlace para comprar los productos</a:t>
            </a:r>
            <a:endParaRPr lang="es-ES" sz="1200" dirty="0"/>
          </a:p>
        </p:txBody>
      </p:sp>
      <p:cxnSp>
        <p:nvCxnSpPr>
          <p:cNvPr id="28" name="Conector recto de flecha 27"/>
          <p:cNvCxnSpPr/>
          <p:nvPr/>
        </p:nvCxnSpPr>
        <p:spPr>
          <a:xfrm flipH="1" flipV="1">
            <a:off x="2667257" y="3565152"/>
            <a:ext cx="4205602" cy="2092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/>
          <p:nvPr/>
        </p:nvCxnSpPr>
        <p:spPr>
          <a:xfrm flipH="1" flipV="1">
            <a:off x="3888061" y="3565152"/>
            <a:ext cx="2984798" cy="2111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2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9DE5DC9-A3F0-E185-A70D-B49BFA014D8A}"/>
              </a:ext>
            </a:extLst>
          </p:cNvPr>
          <p:cNvSpPr txBox="1"/>
          <p:nvPr/>
        </p:nvSpPr>
        <p:spPr>
          <a:xfrm>
            <a:off x="4487225" y="110728"/>
            <a:ext cx="4240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ELEMENTOS DE </a:t>
            </a:r>
            <a:r>
              <a:rPr lang="es-ES" sz="2400" b="1" dirty="0" smtClean="0"/>
              <a:t>CONTENIDO</a:t>
            </a:r>
            <a:endParaRPr lang="es-ES" sz="24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19" y="643468"/>
            <a:ext cx="9767358" cy="4441782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 flipV="1">
            <a:off x="2105025" y="4543425"/>
            <a:ext cx="314325" cy="83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1212319" y="5381625"/>
            <a:ext cx="1854731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Los distintos productos con sus precios y valoraciones</a:t>
            </a:r>
            <a:endParaRPr lang="es-ES" sz="1200" dirty="0"/>
          </a:p>
        </p:txBody>
      </p:sp>
      <p:sp>
        <p:nvSpPr>
          <p:cNvPr id="9" name="CuadroTexto 8"/>
          <p:cNvSpPr txBox="1"/>
          <p:nvPr/>
        </p:nvSpPr>
        <p:spPr>
          <a:xfrm>
            <a:off x="4124325" y="5424638"/>
            <a:ext cx="2743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/>
              <a:t>Aquí podemos ver </a:t>
            </a:r>
            <a:r>
              <a:rPr lang="es-ES" sz="1200" dirty="0" smtClean="0"/>
              <a:t>los productos que se suelen buscar más</a:t>
            </a:r>
            <a:endParaRPr lang="es-ES" sz="1200" dirty="0"/>
          </a:p>
        </p:txBody>
      </p:sp>
      <p:cxnSp>
        <p:nvCxnSpPr>
          <p:cNvPr id="12" name="Conector recto de flecha 11"/>
          <p:cNvCxnSpPr/>
          <p:nvPr/>
        </p:nvCxnSpPr>
        <p:spPr>
          <a:xfrm flipH="1" flipV="1">
            <a:off x="3067050" y="1390650"/>
            <a:ext cx="1647826" cy="4033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V="1">
            <a:off x="9505950" y="1390650"/>
            <a:ext cx="904875" cy="4033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8223285" y="5454582"/>
            <a:ext cx="304535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Las flechas nos van mostrando más productos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17550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9DE5DC9-A3F0-E185-A70D-B49BFA014D8A}"/>
              </a:ext>
            </a:extLst>
          </p:cNvPr>
          <p:cNvSpPr txBox="1"/>
          <p:nvPr/>
        </p:nvSpPr>
        <p:spPr>
          <a:xfrm>
            <a:off x="4092330" y="156425"/>
            <a:ext cx="460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ELEMENTOS DE </a:t>
            </a:r>
            <a:r>
              <a:rPr lang="es-ES" sz="2400" b="1" dirty="0" smtClean="0"/>
              <a:t>INTERA</a:t>
            </a:r>
            <a:r>
              <a:rPr lang="es-ES" sz="2400" b="1" dirty="0"/>
              <a:t>C</a:t>
            </a:r>
            <a:r>
              <a:rPr lang="es-ES" sz="2400" b="1" dirty="0" smtClean="0"/>
              <a:t>CIÓN</a:t>
            </a:r>
            <a:endParaRPr lang="es-ES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672006"/>
            <a:ext cx="10895030" cy="4048097"/>
          </a:xfrm>
          <a:prstGeom prst="rect">
            <a:avLst/>
          </a:prstGeom>
        </p:spPr>
      </p:pic>
      <p:cxnSp>
        <p:nvCxnSpPr>
          <p:cNvPr id="7" name="Conector recto de flecha 6"/>
          <p:cNvCxnSpPr/>
          <p:nvPr/>
        </p:nvCxnSpPr>
        <p:spPr>
          <a:xfrm flipV="1">
            <a:off x="2157645" y="3505200"/>
            <a:ext cx="118830" cy="147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4646274" y="5566295"/>
            <a:ext cx="41810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En el buscador podemos escribir el producto a encontrar </a:t>
            </a:r>
            <a:endParaRPr lang="es-ES" sz="1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989055" y="4830831"/>
            <a:ext cx="41810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Si pulsamos este botón nos llevará al enlace para comprar el producto  </a:t>
            </a:r>
            <a:endParaRPr lang="es-ES" sz="1200" dirty="0"/>
          </a:p>
        </p:txBody>
      </p:sp>
      <p:cxnSp>
        <p:nvCxnSpPr>
          <p:cNvPr id="15" name="Conector recto de flecha 14"/>
          <p:cNvCxnSpPr/>
          <p:nvPr/>
        </p:nvCxnSpPr>
        <p:spPr>
          <a:xfrm flipV="1">
            <a:off x="6191250" y="1285876"/>
            <a:ext cx="1762125" cy="4280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A663036-01E1-E9A6-CE6A-DD015211A9B2}"/>
              </a:ext>
            </a:extLst>
          </p:cNvPr>
          <p:cNvSpPr txBox="1"/>
          <p:nvPr/>
        </p:nvSpPr>
        <p:spPr>
          <a:xfrm>
            <a:off x="7288593" y="4941224"/>
            <a:ext cx="41810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La cesta de la compra nos permite guardar los productos para luego comprarlos</a:t>
            </a:r>
            <a:endParaRPr lang="es-ES" sz="1200" dirty="0"/>
          </a:p>
        </p:txBody>
      </p:sp>
      <p:cxnSp>
        <p:nvCxnSpPr>
          <p:cNvPr id="11" name="Conector recto de flecha 10"/>
          <p:cNvCxnSpPr/>
          <p:nvPr/>
        </p:nvCxnSpPr>
        <p:spPr>
          <a:xfrm flipV="1">
            <a:off x="9862947" y="1285876"/>
            <a:ext cx="321734" cy="3626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83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F3B8C149E6B7C4BB3EBC37BA7197F15" ma:contentTypeVersion="4" ma:contentTypeDescription="Crear nuevo documento." ma:contentTypeScope="" ma:versionID="dec3387a87547b84bfeb21ce397f0e6b">
  <xsd:schema xmlns:xsd="http://www.w3.org/2001/XMLSchema" xmlns:xs="http://www.w3.org/2001/XMLSchema" xmlns:p="http://schemas.microsoft.com/office/2006/metadata/properties" xmlns:ns2="da825b08-2231-4e71-96be-e9b28cfd248e" targetNamespace="http://schemas.microsoft.com/office/2006/metadata/properties" ma:root="true" ma:fieldsID="db2e8a1512ed214625ee8e186d8eb870" ns2:_="">
    <xsd:import namespace="da825b08-2231-4e71-96be-e9b28cfd248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25b08-2231-4e71-96be-e9b28cfd248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da825b08-2231-4e71-96be-e9b28cfd248e" xsi:nil="true"/>
  </documentManagement>
</p:properties>
</file>

<file path=customXml/itemProps1.xml><?xml version="1.0" encoding="utf-8"?>
<ds:datastoreItem xmlns:ds="http://schemas.openxmlformats.org/officeDocument/2006/customXml" ds:itemID="{500209AF-54F1-4592-B20F-9BCC0F7F1BEA}"/>
</file>

<file path=customXml/itemProps2.xml><?xml version="1.0" encoding="utf-8"?>
<ds:datastoreItem xmlns:ds="http://schemas.openxmlformats.org/officeDocument/2006/customXml" ds:itemID="{10978489-A1C9-4DFF-AFC1-0E0329D9E158}"/>
</file>

<file path=customXml/itemProps3.xml><?xml version="1.0" encoding="utf-8"?>
<ds:datastoreItem xmlns:ds="http://schemas.openxmlformats.org/officeDocument/2006/customXml" ds:itemID="{E495E7DB-2EBA-4987-8A78-BD55BD7B3A4F}"/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444</Words>
  <Application>Microsoft Office PowerPoint</Application>
  <PresentationFormat>Panorámica</PresentationFormat>
  <Paragraphs>40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DIW U1T3:  Analizar componentes de un sitio web</vt:lpstr>
      <vt:lpstr>SITIO WEB 1:</vt:lpstr>
      <vt:lpstr>Presentación de PowerPoint</vt:lpstr>
      <vt:lpstr>Presentación de PowerPoint</vt:lpstr>
      <vt:lpstr>Presentación de PowerPoint</vt:lpstr>
      <vt:lpstr>Presentación de PowerPoint</vt:lpstr>
      <vt:lpstr>MAPA DE NAVEGACIÓN</vt:lpstr>
      <vt:lpstr>SITIO WEB 2:  LEGO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SITIO WEB 1: PLAYSTATION</dc:title>
  <dc:creator>Miguel Ángel García Díaz</dc:creator>
  <cp:lastModifiedBy>Miguel</cp:lastModifiedBy>
  <cp:revision>17</cp:revision>
  <dcterms:created xsi:type="dcterms:W3CDTF">2026-10-05T10:00:51Z</dcterms:created>
  <dcterms:modified xsi:type="dcterms:W3CDTF">2026-10-05T19:40:20Z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0x0101007F3B8C149E6B7C4BB3EBC37BA7197F15</vt:lpwstr>
  </property>
</Properties>
</file>